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29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0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D425571-4B3F-1E83-7F53-1A20BB8AB55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4297680" y="0"/>
          <a:ext cx="3657600" cy="274320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275CA95-A099-F00E-C5BF-1FB154055E0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3657600" cy="274320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76C8C9BC-3488-FC8A-760E-916E6B72497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3657600" cy="2743200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BEADF7CE-A23F-5CC5-CC6D-87E20815422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3657600" cy="274320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034" y="685800"/>
            <a:ext cx="7998916" cy="2971801"/>
          </a:xfrm>
        </p:spPr>
        <p:txBody>
          <a:bodyPr anchor="b">
            <a:normAutofit/>
          </a:bodyPr>
          <a:lstStyle>
            <a:lvl1pPr algn="l">
              <a:defRPr sz="479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034" y="3843868"/>
            <a:ext cx="6399133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0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5869" y="8467"/>
            <a:ext cx="3809008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6580" y="91546"/>
            <a:ext cx="6079071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3941" y="228600"/>
            <a:ext cx="495171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3927" y="32279"/>
            <a:ext cx="4851725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3383" y="609602"/>
            <a:ext cx="4342268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4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8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2006600"/>
            <a:ext cx="8532178" cy="2281600"/>
          </a:xfrm>
        </p:spPr>
        <p:txBody>
          <a:bodyPr anchor="b">
            <a:normAutofit/>
          </a:bodyPr>
          <a:lstStyle>
            <a:lvl1pPr algn="l">
              <a:defRPr sz="35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495800"/>
            <a:ext cx="8532178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6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33" y="685801"/>
            <a:ext cx="4936369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6621" y="685801"/>
            <a:ext cx="4933194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6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827" y="685800"/>
            <a:ext cx="464857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33" y="1270529"/>
            <a:ext cx="4936369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7483" y="685800"/>
            <a:ext cx="4663919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5033" y="1262062"/>
            <a:ext cx="4927904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2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12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167" y="685800"/>
            <a:ext cx="3656648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34" y="685800"/>
            <a:ext cx="5942053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3167" y="2209800"/>
            <a:ext cx="3656648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6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1582" y="1447800"/>
            <a:ext cx="6018232" cy="11430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754" y="914400"/>
            <a:ext cx="3280120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1582" y="2777067"/>
            <a:ext cx="6019820" cy="2048933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21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621" y="533400"/>
            <a:ext cx="10815995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164" y="3843867"/>
            <a:ext cx="8302047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7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114800"/>
            <a:ext cx="8533765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03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85800"/>
            <a:ext cx="9141620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5835" y="3429000"/>
            <a:ext cx="8532178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301068"/>
            <a:ext cx="8532178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724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3429000"/>
            <a:ext cx="8532178" cy="16974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3" y="5132981"/>
            <a:ext cx="853376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18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85800"/>
            <a:ext cx="9141619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5" y="3928534"/>
            <a:ext cx="8532178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978400"/>
            <a:ext cx="8532178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76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4" y="3928534"/>
            <a:ext cx="853217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766733"/>
            <a:ext cx="8532178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77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53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2950" y="685800"/>
            <a:ext cx="2056864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1" y="685800"/>
            <a:ext cx="7821163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8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4572" y="2963334"/>
            <a:ext cx="2981081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034" y="4487333"/>
            <a:ext cx="8532178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685801"/>
            <a:ext cx="8532178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1833" y="6172201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034" y="6172201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0502" y="5578476"/>
            <a:ext cx="1141948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199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08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Mutual Fund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39583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Mutual Fund Analytics Dashboard</a:t>
            </a:r>
          </a:p>
          <a:p>
            <a:pPr>
              <a:defRPr sz="1800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Using Python, SQLite, and Power BI</a:t>
            </a:r>
          </a:p>
          <a:p>
            <a:pPr>
              <a:defRPr sz="1800"/>
            </a:pPr>
            <a:r>
              <a:rPr dirty="0" err="1">
                <a:solidFill>
                  <a:schemeClr val="bg2">
                    <a:lumMod val="50000"/>
                  </a:schemeClr>
                </a:solidFill>
              </a:rPr>
              <a:t>Bluestock</a:t>
            </a:r>
            <a:r>
              <a:rPr dirty="0">
                <a:solidFill>
                  <a:schemeClr val="bg2">
                    <a:lumMod val="50000"/>
                  </a:schemeClr>
                </a:solidFill>
              </a:rPr>
              <a:t> Mutual Fund Capstone Project</a:t>
            </a:r>
          </a:p>
          <a:p>
            <a:pPr>
              <a:defRPr sz="1800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Prepared By: Nandini | June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7432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Financial Growth Illustration</a:t>
            </a:r>
          </a:p>
          <a:p>
            <a:r>
              <a:t>/Bluestock Logo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9768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1284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931" y="671052"/>
            <a:ext cx="4561185" cy="6037007"/>
          </a:xfrm>
          <a:prstGeom prst="roundRect">
            <a:avLst/>
          </a:prstGeom>
          <a:solidFill>
            <a:srgbClr val="F0F4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Mutual fund data is scattered across multiple sources.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Raw financial data is difficult to interpret directly.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Investors lack a unified platform for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Identifying fund performance and risk is time-consuming.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Understanding investor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behavior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requires advanced analytics.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There is a need for interactive dashboards for better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Data-driven insights can support smarter investment choices.</a:t>
            </a:r>
          </a:p>
          <a:p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0" y="671053"/>
            <a:ext cx="4433365" cy="6037006"/>
          </a:xfrm>
          <a:prstGeom prst="roundRect">
            <a:avLst/>
          </a:prstGeom>
          <a:solidFill>
            <a:srgbClr val="F0F4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Collect and integrate mutual fund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Clean and transform raw financial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Design a SQLite database for efficient storage.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Perform exploratory data analysis (EDA).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Evaluate fund performance using risk-return metrics.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Analyze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investor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behavior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and market trends.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Develop an interactive Power BI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Generate insights to support investment decisions.</a:t>
            </a:r>
          </a:p>
          <a:p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-50800"/>
            <a:ext cx="21547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8494"/>
            <a:ext cx="181492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1. Fund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91454"/>
            <a:ext cx="172515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2. NAV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679" y="2532782"/>
            <a:ext cx="289053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3. Scheme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56709"/>
            <a:ext cx="273344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4. Investor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679" y="4180636"/>
            <a:ext cx="269016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5. AUM by Fund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12" y="968494"/>
            <a:ext cx="251222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6. Monthly SIP Inflows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12" y="1797353"/>
            <a:ext cx="287931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7. Category-wise Inflows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12" y="2529856"/>
            <a:ext cx="262924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8. Industry Folio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4562" y="3356709"/>
            <a:ext cx="235192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9. Portfolio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12" y="4180636"/>
            <a:ext cx="2694969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10. Benchmark Indices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7288" y="5646750"/>
            <a:ext cx="213712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Total: 10 Datasets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AD09192-BB64-D0B5-5A87-333FC515DE51}"/>
              </a:ext>
            </a:extLst>
          </p:cNvPr>
          <p:cNvCxnSpPr/>
          <p:nvPr/>
        </p:nvCxnSpPr>
        <p:spPr>
          <a:xfrm>
            <a:off x="5378776" y="709440"/>
            <a:ext cx="0" cy="4379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064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42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8831" y="3427964"/>
            <a:ext cx="1828800" cy="3811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Raw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0515" y="3426928"/>
            <a:ext cx="1828800" cy="4191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Python ETL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72401" y="3388909"/>
            <a:ext cx="1828800" cy="4572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44287" y="3386904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971" y="3426927"/>
            <a:ext cx="1828800" cy="45823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 BI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98E77E-2097-9A43-CBD2-AE2D19E68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31" y="1122948"/>
            <a:ext cx="1767441" cy="182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40DD58-1B6D-9E3F-5679-AF49B79E0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515" y="1122948"/>
            <a:ext cx="1714500" cy="1714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F154AD-3FE5-35FC-846D-8327B5993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551" y="1180098"/>
            <a:ext cx="1714500" cy="1714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0C68AE-1BBF-07E1-EE19-C0A120736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572" y="1180098"/>
            <a:ext cx="1579908" cy="1639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3787D0-891C-B957-DAFB-F186CBE0C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9490" y="1331495"/>
            <a:ext cx="1330500" cy="14883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C232FF-9D7B-D6AA-E842-1A99C13A93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032" y="4492241"/>
            <a:ext cx="10229739" cy="2127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-4064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079" y="-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EDA Highlights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NAV Trend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051251"/>
              </p:ext>
            </p:extLst>
          </p:nvPr>
        </p:nvGraphicFramePr>
        <p:xfrm>
          <a:off x="4297680" y="137160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AUM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SIP Inflow Trend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54F2D-7C8E-05BB-C952-C7D3024DD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79" y="1262130"/>
            <a:ext cx="3136384" cy="29621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E229DA-2531-E51E-2BF6-B430A4D98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736" y="1371600"/>
            <a:ext cx="3145889" cy="2915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6575" y="-824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Highlights Part 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27921"/>
              </p:ext>
            </p:extLst>
          </p:nvPr>
        </p:nvGraphicFramePr>
        <p:xfrm>
          <a:off x="376575" y="137160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 Groups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245717"/>
              </p:ext>
            </p:extLst>
          </p:nvPr>
        </p:nvGraphicFramePr>
        <p:xfrm>
          <a:off x="4297680" y="137160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City Tier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248561"/>
              </p:ext>
            </p:extLst>
          </p:nvPr>
        </p:nvGraphicFramePr>
        <p:xfrm>
          <a:off x="8138160" y="1371600"/>
          <a:ext cx="365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38160" y="4206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Folio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641684"/>
            <a:ext cx="2011680" cy="946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CAGR</a:t>
            </a:r>
          </a:p>
          <a:p>
            <a:r>
              <a:t>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828800"/>
            <a:ext cx="2011680" cy="94648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Sharpe</a:t>
            </a:r>
          </a:p>
          <a:p>
            <a:r>
              <a:t>Description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015917"/>
            <a:ext cx="2011680" cy="946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Sortino</a:t>
            </a:r>
          </a:p>
          <a:p>
            <a: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203033"/>
            <a:ext cx="2011680" cy="946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Alpha</a:t>
            </a:r>
          </a:p>
          <a:p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390149"/>
            <a:ext cx="2011680" cy="946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Beta</a:t>
            </a:r>
          </a:p>
          <a:p>
            <a:r>
              <a:rPr dirty="0"/>
              <a:t>Description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2F8EC9-4F05-DCF5-854C-83B7E52F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2" y="697832"/>
            <a:ext cx="1313567" cy="55826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8ED031-8623-697E-0CC9-738DF57BA68C}"/>
              </a:ext>
            </a:extLst>
          </p:cNvPr>
          <p:cNvSpPr txBox="1"/>
          <p:nvPr/>
        </p:nvSpPr>
        <p:spPr>
          <a:xfrm>
            <a:off x="3835150" y="769736"/>
            <a:ext cx="8084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Measures the annualized growth rate of an investment over a specific period.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9C5E5E-C8DC-274B-5898-645A837906D4}"/>
              </a:ext>
            </a:extLst>
          </p:cNvPr>
          <p:cNvSpPr txBox="1"/>
          <p:nvPr/>
        </p:nvSpPr>
        <p:spPr>
          <a:xfrm>
            <a:off x="3835149" y="1828800"/>
            <a:ext cx="7634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Evaluates risk-adjusted returns by comparing excess return to total risk.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E21116-E336-0D15-4D34-D465F9199990}"/>
              </a:ext>
            </a:extLst>
          </p:cNvPr>
          <p:cNvSpPr txBox="1"/>
          <p:nvPr/>
        </p:nvSpPr>
        <p:spPr>
          <a:xfrm>
            <a:off x="3835150" y="2935992"/>
            <a:ext cx="8722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Measures returns relative to downside risk, focusing only on negative volatility.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C8675-FC15-50EA-4858-C22119E2AD2F}"/>
              </a:ext>
            </a:extLst>
          </p:cNvPr>
          <p:cNvSpPr txBox="1"/>
          <p:nvPr/>
        </p:nvSpPr>
        <p:spPr>
          <a:xfrm>
            <a:off x="3835149" y="4119384"/>
            <a:ext cx="8329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Indicates the excess return generated by a fund compared to its benchmark.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EFCAD4-83C5-8727-D4D4-00936B4124AA}"/>
              </a:ext>
            </a:extLst>
          </p:cNvPr>
          <p:cNvSpPr txBox="1"/>
          <p:nvPr/>
        </p:nvSpPr>
        <p:spPr>
          <a:xfrm>
            <a:off x="3835149" y="5390149"/>
            <a:ext cx="7634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Measures a fund's sensitivity to market movements and systematic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Advanced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VaR &amp; CVaR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55448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Rolling Sharpe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55448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6616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SIP Continuity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566160"/>
            <a:ext cx="274320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Recommender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0800"/>
            <a:ext cx="37785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Dashboard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1DCD4E-E3BE-21D0-284A-FE5CC038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69"/>
          <a:stretch>
            <a:fillRect/>
          </a:stretch>
        </p:blipFill>
        <p:spPr>
          <a:xfrm>
            <a:off x="5651705" y="2424363"/>
            <a:ext cx="6318947" cy="42952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9B79B6-B3FA-E342-62C3-665E251DE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72"/>
          <a:stretch>
            <a:fillRect/>
          </a:stretch>
        </p:blipFill>
        <p:spPr>
          <a:xfrm>
            <a:off x="211756" y="461665"/>
            <a:ext cx="5439949" cy="35991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1C4A16D-AA71-A466-3F01-CF6423874241}"/>
              </a:ext>
            </a:extLst>
          </p:cNvPr>
          <p:cNvSpPr txBox="1"/>
          <p:nvPr/>
        </p:nvSpPr>
        <p:spPr>
          <a:xfrm>
            <a:off x="7539789" y="2021305"/>
            <a:ext cx="268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Fig4: Investor Analytics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5EA4D-A0B2-0399-D4CB-5997D1164AB9}"/>
              </a:ext>
            </a:extLst>
          </p:cNvPr>
          <p:cNvSpPr txBox="1"/>
          <p:nvPr/>
        </p:nvSpPr>
        <p:spPr>
          <a:xfrm>
            <a:off x="1365429" y="4199942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Fig 3: SIP Market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29A57-1FEA-9134-BE32-02088037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647987-B372-9B22-E0F3-44B740FE2F40}"/>
              </a:ext>
            </a:extLst>
          </p:cNvPr>
          <p:cNvSpPr/>
          <p:nvPr/>
        </p:nvSpPr>
        <p:spPr>
          <a:xfrm>
            <a:off x="0" y="0"/>
            <a:ext cx="12188952" cy="355600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BDCF4-F1A9-4E65-3CBA-74C9AF96FDF2}"/>
              </a:ext>
            </a:extLst>
          </p:cNvPr>
          <p:cNvSpPr txBox="1"/>
          <p:nvPr/>
        </p:nvSpPr>
        <p:spPr>
          <a:xfrm>
            <a:off x="365760" y="-50800"/>
            <a:ext cx="377859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Dashboard Screenshots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9F1B2-1E0D-6881-83EB-561250A01BC6}"/>
              </a:ext>
            </a:extLst>
          </p:cNvPr>
          <p:cNvSpPr txBox="1"/>
          <p:nvPr/>
        </p:nvSpPr>
        <p:spPr>
          <a:xfrm>
            <a:off x="837844" y="3970934"/>
            <a:ext cx="28344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Fig 1:Fund Performance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5CF90-7F7E-B852-BE4E-120EEC84A8BA}"/>
              </a:ext>
            </a:extLst>
          </p:cNvPr>
          <p:cNvSpPr txBox="1"/>
          <p:nvPr/>
        </p:nvSpPr>
        <p:spPr>
          <a:xfrm>
            <a:off x="62179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Dashboard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F8466E-16BA-34DA-9961-EB3DD84D4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8" y="461665"/>
            <a:ext cx="5760675" cy="34584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768417-CA8E-6758-1732-62C1CFC4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792" y="3258574"/>
            <a:ext cx="5760675" cy="35412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2EDD8D-858D-5791-E094-855A04F0FC5A}"/>
              </a:ext>
            </a:extLst>
          </p:cNvPr>
          <p:cNvSpPr txBox="1"/>
          <p:nvPr/>
        </p:nvSpPr>
        <p:spPr>
          <a:xfrm>
            <a:off x="7892716" y="2778462"/>
            <a:ext cx="273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Fig 2:Industry Overview</a:t>
            </a:r>
          </a:p>
        </p:txBody>
      </p:sp>
    </p:spTree>
    <p:extLst>
      <p:ext uri="{BB962C8B-B14F-4D97-AF65-F5344CB8AC3E}">
        <p14:creationId xmlns:p14="http://schemas.microsoft.com/office/powerpoint/2010/main" val="1951666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737937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213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9389" y="1720840"/>
            <a:ext cx="67625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📈 SIP inflows increased significantly from 2022–2025, indicating growing investor participation.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💰Equity-oriented mutual funds attracted the highest net inflows among all categories.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👥 Investors aged 26–35 years were the most active contributors.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🏙️ T30 cities generated a larger share of investments compared to B30 cities.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⭐ Funds with higher Sharpe Ratios delivered better risk-adjusted returns. 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📊 Industry AUM and folio counts showed strong and consistent growth over the study period.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0" y="1828800"/>
            <a:ext cx="2743200" cy="2743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Insight Illustration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20B19-0A2E-B286-4548-55B3ED6EB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61938"/>
            <a:ext cx="4229467" cy="37341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1074821"/>
          </a:xfrm>
          <a:prstGeom prst="rect">
            <a:avLst/>
          </a:prstGeom>
          <a:solidFill>
            <a:srgbClr val="0D2E59"/>
          </a:solidFill>
          <a:ln>
            <a:solidFill>
              <a:srgbClr val="0D2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2210" y="2828835"/>
            <a:ext cx="7764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dirty="0">
                <a:solidFill>
                  <a:schemeClr val="bg2">
                    <a:lumMod val="50000"/>
                  </a:schemeClr>
                </a:solidFill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E359F-244F-436C-682C-AD5EC7AAFED2}"/>
              </a:ext>
            </a:extLst>
          </p:cNvPr>
          <p:cNvSpPr txBox="1"/>
          <p:nvPr/>
        </p:nvSpPr>
        <p:spPr>
          <a:xfrm>
            <a:off x="77002" y="5919537"/>
            <a:ext cx="48045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Prepared By: Nandini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Email: nandinisingh3563@gmail.com.com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96</TotalTime>
  <Words>454</Words>
  <Application>Microsoft Office PowerPoint</Application>
  <PresentationFormat>Custom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Nandini Singh</dc:creator>
  <cp:keywords/>
  <dc:description>generated using python-pptx</dc:description>
  <cp:lastModifiedBy>Nandini Singh</cp:lastModifiedBy>
  <cp:revision>3</cp:revision>
  <dcterms:created xsi:type="dcterms:W3CDTF">2013-01-27T09:14:16Z</dcterms:created>
  <dcterms:modified xsi:type="dcterms:W3CDTF">2026-06-12T10:38:40Z</dcterms:modified>
  <cp:category/>
</cp:coreProperties>
</file>